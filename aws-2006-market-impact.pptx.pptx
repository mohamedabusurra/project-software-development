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6"/>
    <p:restoredTop sz="94610"/>
  </p:normalViewPr>
  <p:slideViewPr>
    <p:cSldViewPr snapToGrid="0" snapToObjects="1">
      <p:cViewPr varScale="1">
        <p:scale>
          <a:sx n="301" d="100"/>
          <a:sy n="301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IaaS Market (USD Billions)</c:v>
                </c:pt>
              </c:strCache>
            </c:strRef>
          </c:tx>
          <c:spPr>
            <a:solidFill>
              <a:srgbClr val="A8C4E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EDA-1149-BCDE-C33584F45FCB}"/>
              </c:ext>
            </c:extLst>
          </c:dPt>
          <c:dPt>
            <c:idx val="1"/>
            <c:invertIfNegative val="0"/>
            <c:bubble3D val="0"/>
            <c:spPr>
              <a:solidFill>
                <a:srgbClr val="FFFF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DA-1149-BCDE-C33584F45FCB}"/>
              </c:ext>
            </c:extLst>
          </c:dPt>
          <c:dPt>
            <c:idx val="2"/>
            <c:invertIfNegative val="0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DA-1149-BCDE-C33584F45FC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F2771"/>
                    </a:solidFill>
                    <a:latin typeface="Arial"/>
                  </a:defRPr>
                </a:pPr>
                <a:endParaRPr lang="en-LY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2025</c:v>
                </c:pt>
                <c:pt idx="1">
                  <c:v>2026 (Est.)</c:v>
                </c:pt>
                <c:pt idx="2">
                  <c:v>2030 (Proj.)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175</c:v>
                </c:pt>
                <c:pt idx="1">
                  <c:v>197.25</c:v>
                </c:pt>
                <c:pt idx="2">
                  <c:v>328.89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EDA-1149-BCDE-C33584F45F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"/>
        </c:scaling>
        <c:delete val="0"/>
        <c:axPos val="l"/>
        <c:majorGridlines>
          <c:spPr>
            <a:ln w="6350" cap="flat">
              <a:solidFill>
                <a:srgbClr val="2A349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19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06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011680"/>
            <a:ext cx="4572000" cy="4572000"/>
          </a:xfrm>
          <a:prstGeom prst="ellipse">
            <a:avLst/>
          </a:prstGeom>
          <a:solidFill>
            <a:srgbClr val="FF9900">
              <a:alpha val="8000"/>
            </a:srgbClr>
          </a:solidFill>
          <a:ln w="12700">
            <a:solidFill>
              <a:srgbClr val="FF99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sp>
        <p:nvSpPr>
          <p:cNvPr id="3" name="Shape 1"/>
          <p:cNvSpPr/>
          <p:nvPr/>
        </p:nvSpPr>
        <p:spPr>
          <a:xfrm>
            <a:off x="-1371600" y="-731520"/>
            <a:ext cx="3657600" cy="3657600"/>
          </a:xfrm>
          <a:prstGeom prst="ellipse">
            <a:avLst/>
          </a:prstGeom>
          <a:solidFill>
            <a:srgbClr val="FF9900">
              <a:alpha val="10000"/>
            </a:srgbClr>
          </a:solidFill>
          <a:ln w="12700">
            <a:solidFill>
              <a:srgbClr val="FF99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CEP146 — Essential Tooling for Programmers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&amp; the Rise of IaaS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2944368"/>
            <a:ext cx="27432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Amazon Web Services Changed Software Development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160520"/>
            <a:ext cx="1645920" cy="79735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3  | 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2006: The Reality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57200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launch an app?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servers before a single user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your own data center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how much traffic you'll need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for hardware whether used or not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474720" cy="1463040"/>
          </a:xfrm>
          <a:prstGeom prst="roundRect">
            <a:avLst>
              <a:gd name="adj" fmla="val 5625"/>
            </a:avLst>
          </a:prstGeom>
          <a:solidFill>
            <a:srgbClr val="141950"/>
          </a:solidFill>
          <a:ln w="12700">
            <a:solidFill>
              <a:srgbClr val="FF9900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sp>
        <p:nvSpPr>
          <p:cNvPr id="6" name="Text 4"/>
          <p:cNvSpPr/>
          <p:nvPr/>
        </p:nvSpPr>
        <p:spPr>
          <a:xfrm>
            <a:off x="5394960" y="10241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too low?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94960" y="144475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hardware costs</a:t>
            </a:r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51460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03520" y="2788920"/>
            <a:ext cx="3474720" cy="1463040"/>
          </a:xfrm>
          <a:prstGeom prst="roundRect">
            <a:avLst>
              <a:gd name="adj" fmla="val 5625"/>
            </a:avLst>
          </a:prstGeom>
          <a:solidFill>
            <a:srgbClr val="141950"/>
          </a:solidFill>
          <a:ln w="12700">
            <a:solidFill>
              <a:srgbClr val="FF9900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sp>
        <p:nvSpPr>
          <p:cNvPr id="10" name="Text 7"/>
          <p:cNvSpPr/>
          <p:nvPr/>
        </p:nvSpPr>
        <p:spPr>
          <a:xfrm>
            <a:off x="5394960" y="28529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too high?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394960" y="327355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crashes. Users lost.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Analogy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977640"/>
          </a:xfrm>
          <a:prstGeom prst="roundRect">
            <a:avLst>
              <a:gd name="adj" fmla="val 2093"/>
            </a:avLst>
          </a:prstGeom>
          <a:solidFill>
            <a:srgbClr val="141950"/>
          </a:solidFill>
          <a:ln w="12700">
            <a:solidFill>
              <a:srgbClr val="FF9900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sp>
        <p:nvSpPr>
          <p:cNvPr id="5" name="Shape 3"/>
          <p:cNvSpPr/>
          <p:nvPr/>
        </p:nvSpPr>
        <p:spPr>
          <a:xfrm>
            <a:off x="1280160" y="914400"/>
            <a:ext cx="2103120" cy="384048"/>
          </a:xfrm>
          <a:prstGeom prst="roundRect">
            <a:avLst>
              <a:gd name="adj" fmla="val 21429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sp>
        <p:nvSpPr>
          <p:cNvPr id="6" name="Text 4"/>
          <p:cNvSpPr/>
          <p:nvPr/>
        </p:nvSpPr>
        <p:spPr>
          <a:xfrm>
            <a:off x="1280160" y="914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00200" y="1371600"/>
            <a:ext cx="1280160" cy="1280160"/>
          </a:xfrm>
          <a:prstGeom prst="ellipse">
            <a:avLst/>
          </a:prstGeom>
          <a:solidFill>
            <a:srgbClr val="2A3490"/>
          </a:solidFill>
          <a:ln w="12700">
            <a:solidFill>
              <a:srgbClr val="2A349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1435608"/>
            <a:ext cx="1152144" cy="11521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7432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Land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02920" y="3310128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&amp; water already connected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build what you want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flexibility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846320" y="1005840"/>
            <a:ext cx="3931920" cy="3977640"/>
          </a:xfrm>
          <a:prstGeom prst="roundRect">
            <a:avLst>
              <a:gd name="adj" fmla="val 2093"/>
            </a:avLst>
          </a:prstGeom>
          <a:solidFill>
            <a:srgbClr val="141950"/>
          </a:solidFill>
          <a:ln w="12700">
            <a:solidFill>
              <a:srgbClr val="A8C4E8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sp>
        <p:nvSpPr>
          <p:cNvPr id="12" name="Shape 9"/>
          <p:cNvSpPr/>
          <p:nvPr/>
        </p:nvSpPr>
        <p:spPr>
          <a:xfrm>
            <a:off x="5760720" y="914400"/>
            <a:ext cx="2103120" cy="384048"/>
          </a:xfrm>
          <a:prstGeom prst="roundRect">
            <a:avLst>
              <a:gd name="adj" fmla="val 21429"/>
            </a:avLst>
          </a:prstGeom>
          <a:solidFill>
            <a:srgbClr val="A8C4E8"/>
          </a:solidFill>
          <a:ln w="1270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sp>
        <p:nvSpPr>
          <p:cNvPr id="13" name="Text 10"/>
          <p:cNvSpPr/>
          <p:nvPr/>
        </p:nvSpPr>
        <p:spPr>
          <a:xfrm>
            <a:off x="5760720" y="914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080760" y="1371600"/>
            <a:ext cx="1280160" cy="1280160"/>
          </a:xfrm>
          <a:prstGeom prst="ellipse">
            <a:avLst/>
          </a:prstGeom>
          <a:solidFill>
            <a:srgbClr val="2A3490"/>
          </a:solidFill>
          <a:ln w="12700">
            <a:solidFill>
              <a:srgbClr val="2A349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435608"/>
            <a:ext cx="1152144" cy="11521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37760" y="27432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House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983480" y="3310128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in immediately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building required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Gmail, Google Docs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Infrastructure as a Service?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Renting the core building blocks of computing — instead of buying them.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141950"/>
          </a:solidFill>
          <a:ln w="12700">
            <a:solidFill>
              <a:srgbClr val="A8C4E8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sp>
        <p:nvSpPr>
          <p:cNvPr id="6" name="Shape 4"/>
          <p:cNvSpPr/>
          <p:nvPr/>
        </p:nvSpPr>
        <p:spPr>
          <a:xfrm>
            <a:off x="1005840" y="1709928"/>
            <a:ext cx="1371600" cy="13716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847088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21868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246120" y="1572768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141950"/>
          </a:solidFill>
          <a:ln w="12700">
            <a:solidFill>
              <a:srgbClr val="A8C4E8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sp>
        <p:nvSpPr>
          <p:cNvPr id="10" name="Shape 7"/>
          <p:cNvSpPr/>
          <p:nvPr/>
        </p:nvSpPr>
        <p:spPr>
          <a:xfrm>
            <a:off x="3886200" y="1709928"/>
            <a:ext cx="1371600" cy="13716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847088"/>
            <a:ext cx="1097280" cy="1097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321868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6126480" y="1572768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141950"/>
          </a:solidFill>
          <a:ln w="12700">
            <a:solidFill>
              <a:srgbClr val="A8C4E8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sp>
        <p:nvSpPr>
          <p:cNvPr id="14" name="Shape 10"/>
          <p:cNvSpPr/>
          <p:nvPr/>
        </p:nvSpPr>
        <p:spPr>
          <a:xfrm>
            <a:off x="6766560" y="1709928"/>
            <a:ext cx="1371600" cy="13716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847088"/>
            <a:ext cx="1097280" cy="10972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321868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over the internet  ·  Pay only for what you use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2006: AWS Launches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91440"/>
            <a:ext cx="1362456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86200" y="886968"/>
            <a:ext cx="1371600" cy="13716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sp>
        <p:nvSpPr>
          <p:cNvPr id="6" name="Text 3"/>
          <p:cNvSpPr/>
          <p:nvPr/>
        </p:nvSpPr>
        <p:spPr>
          <a:xfrm>
            <a:off x="3886200" y="88696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2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" y="2377440"/>
            <a:ext cx="3931920" cy="2560320"/>
          </a:xfrm>
          <a:prstGeom prst="roundRect">
            <a:avLst>
              <a:gd name="adj" fmla="val 3214"/>
            </a:avLst>
          </a:prstGeom>
          <a:solidFill>
            <a:srgbClr val="141950"/>
          </a:solidFill>
          <a:ln w="12700">
            <a:solidFill>
              <a:srgbClr val="FF9900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sp>
        <p:nvSpPr>
          <p:cNvPr id="8" name="Shape 5"/>
          <p:cNvSpPr/>
          <p:nvPr/>
        </p:nvSpPr>
        <p:spPr>
          <a:xfrm>
            <a:off x="502920" y="2496312"/>
            <a:ext cx="868680" cy="8686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" y="2583180"/>
            <a:ext cx="694944" cy="6949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81328" y="24963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1481328" y="29992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Storage Service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7200" y="34747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files in the cloud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per gigabyte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4846320" y="2377440"/>
            <a:ext cx="3931920" cy="2560320"/>
          </a:xfrm>
          <a:prstGeom prst="roundRect">
            <a:avLst>
              <a:gd name="adj" fmla="val 3214"/>
            </a:avLst>
          </a:prstGeom>
          <a:solidFill>
            <a:srgbClr val="141950"/>
          </a:solidFill>
          <a:ln w="12700">
            <a:solidFill>
              <a:srgbClr val="FF9900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sp>
        <p:nvSpPr>
          <p:cNvPr id="14" name="Shape 10"/>
          <p:cNvSpPr/>
          <p:nvPr/>
        </p:nvSpPr>
        <p:spPr>
          <a:xfrm>
            <a:off x="4983480" y="2496312"/>
            <a:ext cx="868680" cy="8686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348" y="2583180"/>
            <a:ext cx="694944" cy="6949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61888" y="24963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EC2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5961888" y="29992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Compute Cloud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937760" y="34747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a virtual server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by the hour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365760" y="4974336"/>
            <a:ext cx="8412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— they kicked off the cloud computing market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 Was Immediate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3931920" cy="3840480"/>
          </a:xfrm>
          <a:prstGeom prst="roundRect">
            <a:avLst>
              <a:gd name="adj" fmla="val 2143"/>
            </a:avLst>
          </a:prstGeom>
          <a:solidFill>
            <a:srgbClr val="141950"/>
          </a:solidFill>
          <a:ln w="12700">
            <a:solidFill>
              <a:srgbClr val="FF9900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78992"/>
            <a:ext cx="3383280" cy="7434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993392"/>
            <a:ext cx="365760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crash in 2008</a:t>
            </a:r>
            <a:endParaRPr lang="en-US" sz="21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Rebuilt entire platform on AWS</a:t>
            </a:r>
            <a:endParaRPr lang="en-US" sz="21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streams to 300M+ users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4846320" y="932688"/>
            <a:ext cx="3931920" cy="3840480"/>
          </a:xfrm>
          <a:prstGeom prst="roundRect">
            <a:avLst>
              <a:gd name="adj" fmla="val 2143"/>
            </a:avLst>
          </a:prstGeom>
          <a:solidFill>
            <a:srgbClr val="141950"/>
          </a:solidFill>
          <a:ln w="12700">
            <a:solidFill>
              <a:srgbClr val="FF9900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005840"/>
            <a:ext cx="1554480" cy="1554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83480" y="2697480"/>
            <a:ext cx="3657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million users in under 1 year</a:t>
            </a:r>
            <a:endParaRPr lang="en-US" sz="21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13 employees</a:t>
            </a:r>
            <a:endParaRPr lang="en-US" sz="21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owned a single server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removed the barrier between an idea and a global product.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IaaS Market Today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657600" cy="1078992"/>
          </a:xfrm>
          <a:prstGeom prst="roundRect">
            <a:avLst>
              <a:gd name="adj" fmla="val 7627"/>
            </a:avLst>
          </a:prstGeom>
          <a:solidFill>
            <a:srgbClr val="141950"/>
          </a:solidFill>
          <a:ln w="12700">
            <a:solidFill>
              <a:srgbClr val="A8C4E8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103120" y="1024128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3657600" cy="1078992"/>
          </a:xfrm>
          <a:prstGeom prst="roundRect">
            <a:avLst>
              <a:gd name="adj" fmla="val 7627"/>
            </a:avLst>
          </a:prstGeom>
          <a:solidFill>
            <a:srgbClr val="141950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$197B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103120" y="2258568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(est.)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3657600" cy="1078992"/>
          </a:xfrm>
          <a:prstGeom prst="roundRect">
            <a:avLst>
              <a:gd name="adj" fmla="val 7627"/>
            </a:avLst>
          </a:prstGeom>
          <a:solidFill>
            <a:srgbClr val="141950"/>
          </a:solidFill>
          <a:ln w="12700">
            <a:solidFill>
              <a:srgbClr val="FF9900"/>
            </a:solidFill>
            <a:prstDash val="solid"/>
          </a:ln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LY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$329B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03120" y="3493008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(proj.)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65760" y="4645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at ~12.7% per year</a:t>
            </a:r>
            <a:endParaRPr lang="en-US" sz="17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297680" y="914400"/>
          <a:ext cx="44805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Driving Cloud Growth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sp>
        <p:nvSpPr>
          <p:cNvPr id="4" name="Shape 2"/>
          <p:cNvSpPr/>
          <p:nvPr/>
        </p:nvSpPr>
        <p:spPr>
          <a:xfrm>
            <a:off x="3886200" y="886968"/>
            <a:ext cx="1371600" cy="13716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950976"/>
            <a:ext cx="1243584" cy="12435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487168"/>
            <a:ext cx="822960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model is trained on rented compute</a:t>
            </a:r>
            <a:endParaRPr lang="en-US" sz="2600" dirty="0"/>
          </a:p>
          <a:p>
            <a:pPr marL="342900" indent="-342900" algn="l"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chatbot runs on cloud infrastructure</a:t>
            </a:r>
            <a:endParaRPr lang="en-US" sz="2600" dirty="0"/>
          </a:p>
          <a:p>
            <a:pPr marL="342900" indent="-342900" algn="l"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one model = millions of compute hours</a:t>
            </a:r>
            <a:endParaRPr lang="en-US" sz="2600" dirty="0"/>
          </a:p>
          <a:p>
            <a:pPr marL="342900" indent="-342900" algn="l"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now the biggest driver of cloud growth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LY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05840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932688"/>
            <a:ext cx="7818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 = renting compute, storage &amp; networking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783080"/>
            <a:ext cx="420624" cy="420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709928"/>
            <a:ext cx="7818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launched S3 &amp; EC2 in 2006</a:t>
            </a:r>
            <a:endParaRPr lang="en-US" sz="2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560320"/>
            <a:ext cx="420624" cy="4206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487168"/>
            <a:ext cx="7818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Shifted software costs from CAPEX to OPEX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337560"/>
            <a:ext cx="420624" cy="4206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3264408"/>
            <a:ext cx="7818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 teams to scale without owning hardware</a:t>
            </a:r>
            <a:endParaRPr lang="en-US" sz="2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114800"/>
            <a:ext cx="420624" cy="42062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4041648"/>
            <a:ext cx="7818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$329B market by 2030 — and still growing</a:t>
            </a:r>
            <a:endParaRPr lang="en-US" sz="2400" dirty="0"/>
          </a:p>
        </p:txBody>
      </p:sp>
      <p:sp>
        <p:nvSpPr>
          <p:cNvPr id="14" name="Text 7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3  |  CEP146 — Essential Tooling for Programmers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350</Words>
  <Application>Microsoft Macintosh PowerPoint</Application>
  <PresentationFormat>On-screen Show (16:9)</PresentationFormat>
  <Paragraphs>79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&amp; the Rise of IaaS</dc:title>
  <dc:subject>PptxGenJS Presentation</dc:subject>
  <dc:creator>PptxGenJS</dc:creator>
  <cp:lastModifiedBy>Mohamed A</cp:lastModifiedBy>
  <cp:revision>1</cp:revision>
  <dcterms:created xsi:type="dcterms:W3CDTF">2026-06-19T23:36:29Z</dcterms:created>
  <dcterms:modified xsi:type="dcterms:W3CDTF">2026-06-19T23:43:52Z</dcterms:modified>
</cp:coreProperties>
</file>